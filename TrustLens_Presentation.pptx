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548640"/>
            <a:ext cx="1463040" cy="1463040"/>
          </a:xfrm>
          <a:prstGeom prst="ellipse">
            <a:avLst/>
          </a:prstGeom>
          <a:solidFill>
            <a:srgbClr val="16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914400"/>
            <a:ext cx="731520" cy="731520"/>
          </a:xfrm>
          <a:prstGeom prst="ellipse">
            <a:avLst/>
          </a:prstGeom>
          <a:solidFill>
            <a:srgbClr val="1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1828800"/>
            <a:ext cx="457200" cy="3200400"/>
          </a:xfrm>
          <a:prstGeom prst="rect">
            <a:avLst/>
          </a:prstGeom>
          <a:solidFill>
            <a:srgbClr val="16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57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3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 i="0">
                <a:solidFill>
                  <a:srgbClr val="00E0C4"/>
                </a:solidFill>
                <a:latin typeface="Arial"/>
              </a:defRPr>
            </a:pPr>
            <a:r>
              <a:t>AI-POWERED REVIEW VERIFICATION</a:t>
            </a:r>
          </a:p>
          <a:p>
            <a:pPr>
              <a:spcAft>
                <a:spcPts val="600"/>
              </a:spcAft>
              <a:defRPr sz="7200" b="1">
                <a:solidFill>
                  <a:srgbClr val="F5F5FA"/>
                </a:solidFill>
                <a:latin typeface="Arial"/>
              </a:defRPr>
            </a:pPr>
            <a:r>
              <a:t>TrustLens</a:t>
            </a:r>
          </a:p>
          <a:p>
            <a:pPr>
              <a:spcAft>
                <a:spcPts val="2000"/>
              </a:spcAft>
              <a:defRPr sz="1600" b="0" i="0">
                <a:solidFill>
                  <a:srgbClr val="8C96AF"/>
                </a:solidFill>
                <a:latin typeface="Arial"/>
              </a:defRPr>
            </a:pPr>
            <a:r>
              <a:t>🛡️  Detect Fake Reviews  ·  Verify Purchases  ·  Analyze Images  ·  Score Trust</a:t>
            </a:r>
          </a:p>
          <a:p>
            <a:pPr>
              <a:spcAft>
                <a:spcPts val="30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Built with  LangGraph  ·  LangChain  ·  Groq Llama 3.3 70B  ·  Llama 4 Scout Vision  ·  FastAPI  ·  React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937760"/>
            <a:ext cx="4114800" cy="27432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200" b="1" i="0">
                <a:solidFill>
                  <a:srgbClr val="00E0C4"/>
                </a:solidFill>
                <a:latin typeface="Arial"/>
              </a:defRPr>
            </a:pPr>
            <a:r>
              <a:t>7</a:t>
            </a:r>
          </a:p>
          <a:p>
            <a:pPr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200" b="1" i="0">
                <a:solidFill>
                  <a:srgbClr val="00E0C4"/>
                </a:solidFill>
                <a:latin typeface="Arial"/>
              </a:defRPr>
            </a:pPr>
            <a:r>
              <a:t>3</a:t>
            </a:r>
          </a:p>
          <a:p>
            <a:pPr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Custom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1206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200" b="1" i="0">
                <a:solidFill>
                  <a:srgbClr val="00E0C4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Transparent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Fake Reviews Are Destroying Digital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300" b="0" i="0">
                <a:solidFill>
                  <a:srgbClr val="8C96AF"/>
                </a:solidFill>
                <a:latin typeface="Arial"/>
              </a:defRPr>
            </a:pPr>
            <a:r>
              <a:t>Every day, millions of consumers are misled by fabricated reviews — costing businesses billions and eroding marketplace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3383280" cy="420624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  <a:defRPr sz="3600" b="0" i="0">
                <a:solidFill>
                  <a:srgbClr val="F5F5FA"/>
                </a:solidFill>
                <a:latin typeface="Arial"/>
              </a:defRPr>
            </a:pPr>
            <a:r>
              <a:t>💰</a:t>
            </a:r>
          </a:p>
          <a:p>
            <a:pPr>
              <a:spcAft>
                <a:spcPts val="1200"/>
              </a:spcAft>
              <a:defRPr sz="1800" b="1" i="0">
                <a:solidFill>
                  <a:srgbClr val="00E0C4"/>
                </a:solidFill>
                <a:latin typeface="Arial"/>
              </a:defRPr>
            </a:pPr>
            <a:r>
              <a:t>Review Fraud</a:t>
            </a:r>
            <a:br/>
            <a:r>
              <a:t>&amp; Astroturfing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Competitors deploy bot armies and paid reviewers to manipulate star ratings. A single bad actor can submit hundreds of fake reviews overnight.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383280" cy="420624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  <a:defRPr sz="3600" b="0" i="0">
                <a:solidFill>
                  <a:srgbClr val="F5F5FA"/>
                </a:solidFill>
                <a:latin typeface="Arial"/>
              </a:defRPr>
            </a:pPr>
            <a:r>
              <a:t>📷</a:t>
            </a:r>
          </a:p>
          <a:p>
            <a:pPr>
              <a:spcAft>
                <a:spcPts val="1200"/>
              </a:spcAft>
              <a:defRPr sz="1800" b="1" i="0">
                <a:solidFill>
                  <a:srgbClr val="A882FF"/>
                </a:solidFill>
                <a:latin typeface="Arial"/>
              </a:defRPr>
            </a:pPr>
            <a:r>
              <a:t>Visual</a:t>
            </a:r>
            <a:br/>
            <a:r>
              <a:t>Misrepresentation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Fake reviewers upload stock photos, AI-generated images, or screenshots from other platforms to appear as genuine verified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011680"/>
            <a:ext cx="3383280" cy="420624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  <a:defRPr sz="3600" b="0" i="0">
                <a:solidFill>
                  <a:srgbClr val="F5F5FA"/>
                </a:solidFill>
                <a:latin typeface="Arial"/>
              </a:defRPr>
            </a:pPr>
            <a:r>
              <a:t>⏱️</a:t>
            </a:r>
          </a:p>
          <a:p>
            <a:pPr>
              <a:spcAft>
                <a:spcPts val="1200"/>
              </a:spcAft>
              <a:defRPr sz="1800" b="1" i="0">
                <a:solidFill>
                  <a:srgbClr val="FFB74D"/>
                </a:solidFill>
                <a:latin typeface="Arial"/>
              </a:defRPr>
            </a:pPr>
            <a:r>
              <a:t>Unscalable</a:t>
            </a:r>
            <a:br/>
            <a:r>
              <a:t>Manual Auditing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Cross-referencing receipts, checking text consistency, and validating image authenticity manually is slow, expensive, and error-prone at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400800"/>
            <a:ext cx="10515600" cy="320040"/>
          </a:xfrm>
          <a:prstGeom prst="roundRect">
            <a:avLst/>
          </a:prstGeom>
          <a:solidFill>
            <a:srgbClr val="1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🔴  $152B lost annually to fake reviews   ·   42% of online reviews are suspect   ·   82% of consumers trust reviews like personal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Introducing TrustLens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 i="0">
                <a:solidFill>
                  <a:srgbClr val="00E0C4"/>
                </a:solidFill>
                <a:latin typeface="Arial"/>
              </a:defRPr>
            </a:pPr>
            <a:r>
              <a:t>Collective AI Auditing</a:t>
            </a:r>
          </a:p>
          <a:p>
            <a:pPr>
              <a:lnSpc>
                <a:spcPct val="140000"/>
              </a:lnSpc>
              <a:spcAft>
                <a:spcPts val="2000"/>
              </a:spcAft>
              <a:defRPr sz="1300" b="0" i="0">
                <a:solidFill>
                  <a:srgbClr val="8C96AF"/>
                </a:solidFill>
                <a:latin typeface="Arial"/>
              </a:defRPr>
            </a:pPr>
            <a:r>
              <a:t>TrustLens is a full-stack AI review verification engine that treats every review as a case to be audited by a team of specialized AI agents.</a:t>
            </a:r>
            <a:br/>
            <a:br/>
            <a:r>
              <a:t>Instead of relying on simple heuristics or keyword filters, TrustLens orchestrates 7 intelligent agents inside a LangGraph state machine. Each agent examines one dimension of trust — from invoice verification to image forensics — before a final Trust Score agent synthesizes all findings into a transparent 0-100 verdict.</a:t>
            </a:r>
          </a:p>
          <a:p>
            <a:pPr>
              <a:spcAft>
                <a:spcPts val="600"/>
              </a:spcAft>
              <a:defRPr sz="1200" b="0" i="0">
                <a:solidFill>
                  <a:srgbClr val="F5F5FA"/>
                </a:solidFill>
                <a:latin typeface="Arial"/>
              </a:defRPr>
            </a:pPr>
            <a:r>
              <a:t>✦  Every score is database-backed and explainable</a:t>
            </a:r>
          </a:p>
          <a:p>
            <a:pPr>
              <a:spcAft>
                <a:spcPts val="600"/>
              </a:spcAft>
              <a:defRPr sz="1200" b="0" i="0">
                <a:solidFill>
                  <a:srgbClr val="F5F5FA"/>
                </a:solidFill>
                <a:latin typeface="Arial"/>
              </a:defRPr>
            </a:pPr>
            <a:r>
              <a:t>✦  Real-time image analysis via Llama 4 Scout Vision</a:t>
            </a:r>
          </a:p>
          <a:p>
            <a:pPr>
              <a:spcAft>
                <a:spcPts val="600"/>
              </a:spcAft>
              <a:defRPr sz="1200" b="0" i="0">
                <a:solidFill>
                  <a:srgbClr val="F5F5FA"/>
                </a:solidFill>
                <a:latin typeface="Arial"/>
              </a:defRPr>
            </a:pPr>
            <a:r>
              <a:t>✦  Full audit trail with per-agent breakdown</a:t>
            </a:r>
          </a:p>
          <a:p>
            <a:pPr>
              <a:spcAft>
                <a:spcPts val="600"/>
              </a:spcAft>
              <a:defRPr sz="1200" b="0" i="0">
                <a:solidFill>
                  <a:srgbClr val="F5F5FA"/>
                </a:solidFill>
                <a:latin typeface="Arial"/>
              </a:defRPr>
            </a:pPr>
            <a:r>
              <a:t>✦  Sub-10 second end-to-end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486400" cy="109728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300" b="1" i="0">
                <a:solidFill>
                  <a:srgbClr val="00E0C4"/>
                </a:solidFill>
                <a:latin typeface="Arial"/>
              </a:defRPr>
            </a:pPr>
            <a:r>
              <a:t>🗄️  Database Verification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Cross-references bill IDs against live SQLite order records with customer, item, and amount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651760"/>
            <a:ext cx="5486400" cy="109728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300" b="1" i="0">
                <a:solidFill>
                  <a:srgbClr val="A882FF"/>
                </a:solidFill>
                <a:latin typeface="Arial"/>
              </a:defRPr>
            </a:pPr>
            <a:r>
              <a:t>🧠  LangGraph Orchestration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7 agents wired in a directed state graph with conditional routing, state passing, and parallel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931920"/>
            <a:ext cx="5486400" cy="109728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300" b="1" i="0">
                <a:solidFill>
                  <a:srgbClr val="00E0C4"/>
                </a:solidFill>
                <a:latin typeface="Arial"/>
              </a:defRPr>
            </a:pPr>
            <a:r>
              <a:t>📷  Vision AI Analysis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Llama 4 Scout analyzes uploaded photos — detects stock images, AI generation, and context mismatches.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212079"/>
            <a:ext cx="5486400" cy="109728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300" b="1" i="0">
                <a:solidFill>
                  <a:srgbClr val="A882FF"/>
                </a:solidFill>
                <a:latin typeface="Arial"/>
              </a:defRPr>
            </a:pPr>
            <a:r>
              <a:t>📊  Transparent Trust Score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Weighted 0-100 score with full per-category breakdown. Clear Approve / Review / Reject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End-to-End Verification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From review submission to Trust Score verdict — every step is orchestrated by LangGraph with full state management and tracing via LangSmith.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01168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400"/>
              </a:spcAft>
              <a:defRPr sz="2800" b="0" i="0">
                <a:solidFill>
                  <a:srgbClr val="F5F5FA"/>
                </a:solidFill>
                <a:latin typeface="Arial"/>
              </a:defRPr>
            </a:pPr>
            <a:r>
              <a:t>📥</a:t>
            </a:r>
          </a:p>
          <a:p>
            <a:pPr algn="ctr">
              <a:spcAft>
                <a:spcPts val="6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Review</a:t>
            </a:r>
            <a:br/>
            <a:r>
              <a:t>Submitted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React Frontend</a:t>
            </a:r>
            <a:br/>
            <a:r>
              <a:t>Captures review +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 i="0">
                <a:solidFill>
                  <a:srgbClr val="5A647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01168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400"/>
              </a:spcAft>
              <a:defRPr sz="2800" b="0" i="0">
                <a:solidFill>
                  <a:srgbClr val="F5F5FA"/>
                </a:solidFill>
                <a:latin typeface="Arial"/>
              </a:defRPr>
            </a:pPr>
            <a:r>
              <a:t>⚡</a:t>
            </a:r>
          </a:p>
          <a:p>
            <a:pPr algn="ctr">
              <a:spcAft>
                <a:spcPts val="6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FastAPI</a:t>
            </a:r>
            <a:br/>
            <a:r>
              <a:t>Backend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REST endpoint</a:t>
            </a:r>
            <a:br/>
            <a:r>
              <a:t>File upload &amp;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 i="0">
                <a:solidFill>
                  <a:srgbClr val="5A647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1168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400"/>
              </a:spcAft>
              <a:defRPr sz="2800" b="0" i="0">
                <a:solidFill>
                  <a:srgbClr val="F5F5FA"/>
                </a:solidFill>
                <a:latin typeface="Arial"/>
              </a:defRPr>
            </a:pPr>
            <a:r>
              <a:t>🔄</a:t>
            </a:r>
          </a:p>
          <a:p>
            <a:pPr algn="ctr">
              <a:spcAft>
                <a:spcPts val="6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LangGraph</a:t>
            </a:r>
            <a:br/>
            <a:r>
              <a:t>Engine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State machine</a:t>
            </a:r>
            <a:br/>
            <a:r>
              <a:t>Orchestrates 7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 i="0">
                <a:solidFill>
                  <a:srgbClr val="5A647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201168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400"/>
              </a:spcAft>
              <a:defRPr sz="2800" b="0" i="0">
                <a:solidFill>
                  <a:srgbClr val="F5F5FA"/>
                </a:solidFill>
                <a:latin typeface="Arial"/>
              </a:defRPr>
            </a:pPr>
            <a:r>
              <a:t>🗄️</a:t>
            </a:r>
          </a:p>
          <a:p>
            <a:pPr algn="ctr">
              <a:spcAft>
                <a:spcPts val="6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SQLite</a:t>
            </a:r>
            <a:br/>
            <a:r>
              <a:t>Database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Order verification</a:t>
            </a:r>
            <a:br/>
            <a:r>
              <a:t>Review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 i="0">
                <a:solidFill>
                  <a:srgbClr val="5A647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828800"/>
            <a:ext cx="201168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spcAft>
                <a:spcPts val="400"/>
              </a:spcAft>
              <a:defRPr sz="2800" b="0" i="0">
                <a:solidFill>
                  <a:srgbClr val="F5F5FA"/>
                </a:solidFill>
                <a:latin typeface="Arial"/>
              </a:defRPr>
            </a:pPr>
            <a:r>
              <a:t>⭐</a:t>
            </a:r>
          </a:p>
          <a:p>
            <a:pPr algn="ctr">
              <a:spcAft>
                <a:spcPts val="600"/>
              </a:spcAft>
              <a:defRPr sz="1400" b="1" i="0">
                <a:solidFill>
                  <a:srgbClr val="FFB74D"/>
                </a:solidFill>
                <a:latin typeface="Arial"/>
              </a:defRPr>
            </a:pPr>
            <a:r>
              <a:t>Trust</a:t>
            </a:r>
            <a:br/>
            <a:r>
              <a:t>Score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0–100 verdict</a:t>
            </a:r>
            <a:br/>
            <a:r>
              <a:t>Approve / Review / Reject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512064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500" b="1" i="0">
                <a:solidFill>
                  <a:srgbClr val="00E0C4"/>
                </a:solidFill>
                <a:latin typeface="Arial"/>
              </a:defRPr>
            </a:pPr>
            <a:r>
              <a:t>Agent Execution Order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1. Intake Agent → Analyzes review, decides which checks to run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2. Purchase Agent → Verifies bill ID in database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3. Consistency Agent → Compares text vs purchased items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4. Duplicate Agent → Checks for copy-paste plagiarism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5. Behavior Agent → Profiles submission patterns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6. Vision Agent → Analyzes uploaded images with Llama 4 Scout</a:t>
            </a:r>
          </a:p>
          <a:p>
            <a:pPr>
              <a:spcAft>
                <a:spcPts val="0"/>
              </a:spcAft>
              <a:defRPr sz="1100" b="0" i="0">
                <a:solidFill>
                  <a:srgbClr val="FFB74D"/>
                </a:solidFill>
                <a:latin typeface="Arial"/>
              </a:defRPr>
            </a:pPr>
            <a:r>
              <a:t>7. Trust Score Agent → Aggregates all signals → Final verdict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521208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500" b="1" i="0">
                <a:solidFill>
                  <a:srgbClr val="A882FF"/>
                </a:solidFill>
                <a:latin typeface="Arial"/>
              </a:defRPr>
            </a:pPr>
            <a:r>
              <a:t>Infrastructure Details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•  LangGraph StateGraph with 8 nodes (7 agents + DB save)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•  3 Groq API keys distributed across agents for rate-limit safety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•  Conditional edge routing — agents can be skipped dynamically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•  Full LangSmith tracing for every pipeline execution</a:t>
            </a:r>
          </a:p>
          <a:p>
            <a:pPr>
              <a:spcAft>
                <a:spcPts val="50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•  SQLite auto-seeds demo orders/businesses on startup</a:t>
            </a:r>
          </a:p>
          <a:p>
            <a:pPr>
              <a:spcAft>
                <a:spcPts val="0"/>
              </a:spcAft>
              <a:defRPr sz="1100" b="0" i="0">
                <a:solidFill>
                  <a:srgbClr val="F5F5FA"/>
                </a:solidFill>
                <a:latin typeface="Arial"/>
              </a:defRPr>
            </a:pPr>
            <a:r>
              <a:t>•  Uploaded images stored locally, analyzed via base64 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7 Specialized LLM-Powered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Each agent is a specialized LLM node powered by Groq Llama 3.3 70B. The Vision agent uses Llama 4 Scout for multimodal image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📥  01</a:t>
            </a:r>
          </a:p>
          <a:p>
            <a:pPr>
              <a:spcAft>
                <a:spcPts val="6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Intake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Analyzes the submitted review text and context. Decides which verification agents to activate based on content, bill ID presence, and media availability.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💳  02</a:t>
            </a:r>
          </a:p>
          <a:p>
            <a:pPr>
              <a:spcAft>
                <a:spcPts val="6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Purchase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Queries the SQLite database to verify if the bill ID corresponds to a real order. Validates customer name, items purchased, amount, and order date.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🔍  03</a:t>
            </a:r>
          </a:p>
          <a:p>
            <a:pPr>
              <a:spcAft>
                <a:spcPts val="6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Consistency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Compares the review text against verified purchase details. Flags mismatches like reviewing coffee when they bought electronics.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📋  04</a:t>
            </a:r>
          </a:p>
          <a:p>
            <a:pPr>
              <a:spcAft>
                <a:spcPts val="6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Duplicate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Scans the review database for copy-paste plagiarism. Detects spun content, identical phrases, and reviews reused across different orders.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👤  05</a:t>
            </a:r>
          </a:p>
          <a:p>
            <a:pPr>
              <a:spcAft>
                <a:spcPts val="6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Behavior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Profiles the reviewer's submission history — frequency, timing patterns, and review count. Flags bot-like velocity or review farm indicators.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20624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📷  06</a:t>
            </a:r>
          </a:p>
          <a:p>
            <a:pPr>
              <a:spcAft>
                <a:spcPts val="6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Vision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Uses Llama 4 Scout vision model to analyze uploaded images. Describes photo contents, checks if they match the review, and detects stock/AI images.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06240"/>
            <a:ext cx="2651760" cy="22860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spcAft>
                <a:spcPts val="200"/>
              </a:spcAft>
              <a:defRPr sz="1200" b="0" i="0">
                <a:solidFill>
                  <a:srgbClr val="5A6478"/>
                </a:solidFill>
                <a:latin typeface="Arial"/>
              </a:defRPr>
            </a:pPr>
            <a:r>
              <a:t>⭐  07</a:t>
            </a:r>
          </a:p>
          <a:p>
            <a:pPr>
              <a:spcAft>
                <a:spcPts val="600"/>
              </a:spcAft>
              <a:defRPr sz="1400" b="1" i="0">
                <a:solidFill>
                  <a:srgbClr val="FFB74D"/>
                </a:solidFill>
                <a:latin typeface="Arial"/>
              </a:defRPr>
            </a:pPr>
            <a:r>
              <a:t>Trust Score Agent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Aggregates all 6 agent signals into a weighted 0-100 trust score. Issues High/Medium/Low verdict with full point breakdown and action recommendation.</a:t>
            </a:r>
          </a:p>
          <a:p>
            <a:pPr>
              <a:spcAft>
                <a:spcPts val="0"/>
              </a:spcAft>
              <a:defRPr sz="800" b="0" i="1">
                <a:solidFill>
                  <a:srgbClr val="5A6478"/>
                </a:solidFill>
                <a:latin typeface="Arial"/>
              </a:defRPr>
            </a:pPr>
            <a:r>
              <a:t>Groq Key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How the Trust Score is Calculated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120640" cy="50292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400"/>
              </a:spcAft>
              <a:defRPr sz="1600" b="1" i="0">
                <a:solidFill>
                  <a:srgbClr val="00E0C4"/>
                </a:solidFill>
                <a:latin typeface="Arial"/>
              </a:defRPr>
            </a:pPr>
            <a:r>
              <a:t>Score Composition  (0 – 100 points)</a:t>
            </a:r>
          </a:p>
          <a:p>
            <a:pPr>
              <a:spcAft>
                <a:spcPts val="800"/>
              </a:spcAft>
              <a:defRPr sz="1000" b="1" i="0">
                <a:solidFill>
                  <a:srgbClr val="FFB74D"/>
                </a:solidFill>
                <a:latin typeface="Arial"/>
              </a:defRPr>
            </a:pPr>
            <a:r>
              <a:t>▎ WITH MEDIA UPLOADED</a:t>
            </a:r>
          </a:p>
          <a:p>
            <a:pPr>
              <a:spcAft>
                <a:spcPts val="100"/>
              </a:spcAft>
              <a:defRPr sz="1100" b="1" i="0">
                <a:solidFill>
                  <a:srgbClr val="00E0C4"/>
                </a:solidFill>
                <a:latin typeface="Arial"/>
              </a:defRPr>
            </a:pPr>
            <a:r>
              <a:t>━━━  Purchase Verification  ·  25 pts</a:t>
            </a:r>
          </a:p>
          <a:p>
            <a:pPr>
              <a:spcAft>
                <a:spcPts val="800"/>
              </a:spcAft>
              <a:defRPr sz="1000" b="0" i="0">
                <a:solidFill>
                  <a:srgbClr val="5A6478"/>
                </a:solidFill>
                <a:latin typeface="Arial"/>
              </a:defRPr>
            </a:pPr>
            <a:r>
              <a:t>      Bill ID verified in real database</a:t>
            </a:r>
          </a:p>
          <a:p>
            <a:pPr>
              <a:spcAft>
                <a:spcPts val="100"/>
              </a:spcAft>
              <a:defRPr sz="1100" b="1" i="0">
                <a:solidFill>
                  <a:srgbClr val="A882FF"/>
                </a:solidFill>
                <a:latin typeface="Arial"/>
              </a:defRPr>
            </a:pPr>
            <a:r>
              <a:t>━━━  Experience Consistency  ·  25 pts</a:t>
            </a:r>
          </a:p>
          <a:p>
            <a:pPr>
              <a:spcAft>
                <a:spcPts val="800"/>
              </a:spcAft>
              <a:defRPr sz="1000" b="0" i="0">
                <a:solidFill>
                  <a:srgbClr val="5A6478"/>
                </a:solidFill>
                <a:latin typeface="Arial"/>
              </a:defRPr>
            </a:pPr>
            <a:r>
              <a:t>      Review text matches purchased items</a:t>
            </a:r>
          </a:p>
          <a:p>
            <a:pPr>
              <a:spcAft>
                <a:spcPts val="100"/>
              </a:spcAft>
              <a:defRPr sz="1100" b="1" i="0">
                <a:solidFill>
                  <a:srgbClr val="00E0C4"/>
                </a:solidFill>
                <a:latin typeface="Arial"/>
              </a:defRPr>
            </a:pPr>
            <a:r>
              <a:t>━━━  Duplicate Detection  ·  15 pts</a:t>
            </a:r>
          </a:p>
          <a:p>
            <a:pPr>
              <a:spcAft>
                <a:spcPts val="800"/>
              </a:spcAft>
              <a:defRPr sz="1000" b="0" i="0">
                <a:solidFill>
                  <a:srgbClr val="5A6478"/>
                </a:solidFill>
                <a:latin typeface="Arial"/>
              </a:defRPr>
            </a:pPr>
            <a:r>
              <a:t>      No plagiarism or copy-paste detected</a:t>
            </a:r>
          </a:p>
          <a:p>
            <a:pPr>
              <a:spcAft>
                <a:spcPts val="100"/>
              </a:spcAft>
              <a:defRPr sz="1100" b="1" i="0">
                <a:solidFill>
                  <a:srgbClr val="A882FF"/>
                </a:solidFill>
                <a:latin typeface="Arial"/>
              </a:defRPr>
            </a:pPr>
            <a:r>
              <a:t>━━━  Reviewer Behavior  ·  15 pts</a:t>
            </a:r>
          </a:p>
          <a:p>
            <a:pPr>
              <a:spcAft>
                <a:spcPts val="800"/>
              </a:spcAft>
              <a:defRPr sz="1000" b="0" i="0">
                <a:solidFill>
                  <a:srgbClr val="5A6478"/>
                </a:solidFill>
                <a:latin typeface="Arial"/>
              </a:defRPr>
            </a:pPr>
            <a:r>
              <a:t>      No bot patterns or spam velocity</a:t>
            </a:r>
          </a:p>
          <a:p>
            <a:pPr>
              <a:spcAft>
                <a:spcPts val="100"/>
              </a:spcAft>
              <a:defRPr sz="1100" b="1" i="0">
                <a:solidFill>
                  <a:srgbClr val="FFB74D"/>
                </a:solidFill>
                <a:latin typeface="Arial"/>
              </a:defRPr>
            </a:pPr>
            <a:r>
              <a:t>━━━  Media Authenticity  ·  20 pts</a:t>
            </a:r>
          </a:p>
          <a:p>
            <a:pPr>
              <a:spcAft>
                <a:spcPts val="800"/>
              </a:spcAft>
              <a:defRPr sz="1000" b="0" i="0">
                <a:solidFill>
                  <a:srgbClr val="5A6478"/>
                </a:solidFill>
                <a:latin typeface="Arial"/>
              </a:defRPr>
            </a:pPr>
            <a:r>
              <a:t>      Photos match review + not stock/AI</a:t>
            </a:r>
          </a:p>
          <a:p>
            <a:pPr>
              <a:spcAft>
                <a:spcPts val="400"/>
              </a:spcAft>
              <a:defRPr sz="1000" b="1" i="0">
                <a:solidFill>
                  <a:srgbClr val="FFB74D"/>
                </a:solidFill>
                <a:latin typeface="Arial"/>
              </a:defRPr>
            </a:pPr>
            <a:r>
              <a:t>▎ WITHOUT MEDIA  →  Points redistribute:</a:t>
            </a:r>
          </a:p>
          <a:p>
            <a:pPr>
              <a:spcAft>
                <a:spcPts val="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Purchase 30 pts  ·  Consistency 30 pts  ·  Duplicate 20 pts  ·  Behavior 20 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600"/>
              </a:spcAft>
              <a:defRPr sz="1600" b="1" i="0">
                <a:solidFill>
                  <a:srgbClr val="A882FF"/>
                </a:solidFill>
                <a:latin typeface="Arial"/>
              </a:defRPr>
            </a:pPr>
            <a:r>
              <a:t>Verdict Tiers &amp; Actions</a:t>
            </a:r>
          </a:p>
          <a:p>
            <a:pPr>
              <a:spcAft>
                <a:spcPts val="400"/>
              </a:spcAft>
              <a:defRPr sz="1400" b="1" i="0">
                <a:solidFill>
                  <a:srgbClr val="4ADE80"/>
                </a:solidFill>
                <a:latin typeface="Arial"/>
              </a:defRPr>
            </a:pPr>
            <a:r>
              <a:t>▎ 75 – 100  ·  HIGH TRUST</a:t>
            </a:r>
          </a:p>
          <a:p>
            <a:pPr>
              <a:spcAft>
                <a:spcPts val="200"/>
              </a:spcAft>
              <a:defRPr sz="1200" b="1" i="0">
                <a:solidFill>
                  <a:srgbClr val="4ADE80"/>
                </a:solidFill>
                <a:latin typeface="Arial"/>
              </a:defRPr>
            </a:pPr>
            <a:r>
              <a:t>✅  Action: APPROVE</a:t>
            </a:r>
          </a:p>
          <a:p>
            <a:pPr>
              <a:spcAft>
                <a:spcPts val="1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Order verified  ·  Consistent experience  ·  No duplicates or bot patterns  ·  Media matches (if uploaded)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FB74D"/>
                </a:solidFill>
                <a:latin typeface="Arial"/>
              </a:defRPr>
            </a:pPr>
            <a:r>
              <a:t>▎ 45 – 74  ·  MEDIUM TRUST</a:t>
            </a:r>
          </a:p>
          <a:p>
            <a:pPr>
              <a:spcAft>
                <a:spcPts val="200"/>
              </a:spcAft>
              <a:defRPr sz="1200" b="1" i="0">
                <a:solidFill>
                  <a:srgbClr val="FFB74D"/>
                </a:solidFill>
                <a:latin typeface="Arial"/>
              </a:defRPr>
            </a:pPr>
            <a:r>
              <a:t>⚠️  Action: MANUAL REVIEW</a:t>
            </a:r>
          </a:p>
          <a:p>
            <a:pPr>
              <a:spcAft>
                <a:spcPts val="1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Some verification checkpoints are weak or incomplete. One or more agents flagged minor concerns.</a:t>
            </a:r>
          </a:p>
          <a:p>
            <a:pPr>
              <a:spcAft>
                <a:spcPts val="400"/>
              </a:spcAft>
              <a:defRPr sz="1400" b="1" i="0">
                <a:solidFill>
                  <a:srgbClr val="FF6363"/>
                </a:solidFill>
                <a:latin typeface="Arial"/>
              </a:defRPr>
            </a:pPr>
            <a:r>
              <a:t>▎ 0 – 44  ·  LOW TRUST</a:t>
            </a:r>
          </a:p>
          <a:p>
            <a:pPr>
              <a:spcAft>
                <a:spcPts val="200"/>
              </a:spcAft>
              <a:defRPr sz="1200" b="1" i="0">
                <a:solidFill>
                  <a:srgbClr val="FF6363"/>
                </a:solidFill>
                <a:latin typeface="Arial"/>
              </a:defRPr>
            </a:pPr>
            <a:r>
              <a:t>🚫  Action: REJECT</a:t>
            </a:r>
          </a:p>
          <a:p>
            <a:pPr>
              <a:spcAft>
                <a:spcPts val="1600"/>
              </a:spcAft>
              <a:defRPr sz="1000" b="0" i="0">
                <a:solidFill>
                  <a:srgbClr val="8C96AF"/>
                </a:solidFill>
                <a:latin typeface="Arial"/>
              </a:defRPr>
            </a:pPr>
            <a:r>
              <a:t>Multiple verification checks failed. Highly likely to be a fake, fabricated, or spam review.</a:t>
            </a:r>
          </a:p>
          <a:p>
            <a:pPr>
              <a:spcAft>
                <a:spcPts val="400"/>
              </a:spcAft>
              <a:defRPr sz="1100" b="1" i="0">
                <a:solidFill>
                  <a:srgbClr val="F5F5FA"/>
                </a:solidFill>
                <a:latin typeface="Arial"/>
              </a:defRPr>
            </a:pPr>
            <a:r>
              <a:t>Example Output: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{ "score": 87, "level": "High", "action": "approve",</a:t>
            </a:r>
            <a:br/>
            <a:r>
              <a:t>  "breakdown": { purchase: 25, consistency: 22,</a:t>
            </a:r>
            <a:br/>
            <a:r>
              <a:t>    duplicate: 15, behavior: 13, media: 12 }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Try TrustLens — Links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45920"/>
            <a:ext cx="7589520" cy="4389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spcAft>
                <a:spcPts val="2400"/>
              </a:spcAft>
              <a:defRPr sz="2400" b="1" i="0">
                <a:solidFill>
                  <a:srgbClr val="F5F5FA"/>
                </a:solidFill>
                <a:latin typeface="Arial"/>
              </a:defRPr>
            </a:pPr>
            <a:r>
              <a:t>🔗  Project Links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GitHub Repository</a:t>
            </a:r>
          </a:p>
          <a:p>
            <a:pPr algn="ctr">
              <a:spcAft>
                <a:spcPts val="20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github.com/Abuzaid-01/TrustLens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Live Backend (Render)</a:t>
            </a:r>
          </a:p>
          <a:p>
            <a:pPr algn="ctr">
              <a:spcAft>
                <a:spcPts val="20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[ Add deployed URL here ]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Live Frontend</a:t>
            </a:r>
          </a:p>
          <a:p>
            <a:pPr algn="ctr">
              <a:spcAft>
                <a:spcPts val="20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[ Add deployed URL here ]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Demo Video</a:t>
            </a:r>
          </a:p>
          <a:p>
            <a:pPr algn="ctr">
              <a:spcAft>
                <a:spcPts val="2000"/>
              </a:spcAft>
              <a:defRPr sz="1200" b="0" i="0">
                <a:solidFill>
                  <a:srgbClr val="8C96AF"/>
                </a:solidFill>
                <a:latin typeface="Arial"/>
              </a:defRPr>
            </a:pPr>
            <a:r>
              <a:t>[ Add video link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0" i="0">
                <a:solidFill>
                  <a:srgbClr val="5A6478"/>
                </a:solidFill>
                <a:latin typeface="Arial"/>
              </a:defRPr>
            </a:pPr>
            <a:r>
              <a:t>LangGraph  ·  LangChain  ·  Groq  ·  Llama 3.3 70B  ·  Llama 4 Scout  ·  LangSmith  ·  FastAPI  ·  React 19  · 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 i="0">
                <a:solidFill>
                  <a:srgbClr val="00E0C4"/>
                </a:solidFill>
                <a:latin typeface="Arial"/>
              </a:defRPr>
            </a:pPr>
            <a:r>
              <a:t>WHY TRUSTLENS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000" b="1" i="0">
                <a:solidFill>
                  <a:srgbClr val="F5F5FA"/>
                </a:solidFill>
                <a:latin typeface="Arial"/>
              </a:defRPr>
            </a:pPr>
            <a:r>
              <a:t>Benefits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A882FF"/>
                </a:solidFill>
                <a:latin typeface="Arial"/>
              </a:defRPr>
            </a:pPr>
            <a:r>
              <a:t>TEAM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5A6478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8C96AF"/>
                </a:solidFill>
                <a:latin typeface="Arial"/>
              </a:defRPr>
            </a:pPr>
            <a:r>
              <a:t>TrustLens doesn't just detect fake reviews — it builds a transparent audit infrastructure that platforms and consumers can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8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🔒  Restore Platform Trust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Every review score is backed by real database verification and transparent per-category breakdown. Customers buy with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8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⚡  95% Cost Reduction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Automates the entire receipt verification, text analysis, image checking, and behavior profiling pipeline. Replaces manual moderation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47472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00E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800"/>
              </a:spcAft>
              <a:defRPr sz="1400" b="1" i="0">
                <a:solidFill>
                  <a:srgbClr val="00E0C4"/>
                </a:solidFill>
                <a:latin typeface="Arial"/>
              </a:defRPr>
            </a:pPr>
            <a:r>
              <a:t>🧩  Extensible Architecture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LangGraph's stateful nodes make it trivial to add new agents (sentiment analysis, language detection, cross-platform checks) without rewriting the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347472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800"/>
              </a:spcAft>
              <a:defRPr sz="1400" b="1" i="0">
                <a:solidFill>
                  <a:srgbClr val="A882FF"/>
                </a:solidFill>
                <a:latin typeface="Arial"/>
              </a:defRPr>
            </a:pPr>
            <a:r>
              <a:t>📷  Multimodal Protection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Shills can't fake proof-of-ownership with stock photos. Llama 4 Scout vision model catches mismatches between uploaded images and review claims.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114800"/>
            <a:ext cx="347472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800"/>
              </a:spcAft>
              <a:defRPr sz="1400" b="1" i="0">
                <a:solidFill>
                  <a:srgbClr val="FFB74D"/>
                </a:solidFill>
                <a:latin typeface="Arial"/>
              </a:defRPr>
            </a:pPr>
            <a:r>
              <a:t>📊  Full Transparency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Unlike black-box spam filters, TrustLens provides a complete audit trail — every agent's reasoning, every score component, every flag raised.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14800"/>
            <a:ext cx="3474720" cy="2103120"/>
          </a:xfrm>
          <a:prstGeom prst="roundRect">
            <a:avLst/>
          </a:prstGeom>
          <a:solidFill>
            <a:srgbClr val="161B2D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800"/>
              </a:spcAft>
              <a:defRPr sz="1400" b="1" i="0">
                <a:solidFill>
                  <a:srgbClr val="4ADE80"/>
                </a:solidFill>
                <a:latin typeface="Arial"/>
              </a:defRPr>
            </a:pPr>
            <a:r>
              <a:t>🌐  Production Ready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100" b="0" i="0">
                <a:solidFill>
                  <a:srgbClr val="8C96AF"/>
                </a:solidFill>
                <a:latin typeface="Arial"/>
              </a:defRPr>
            </a:pPr>
            <a:r>
              <a:t>FastAPI backend, React frontend, SQLite database, Groq cloud inference. Full-stack, deployable today, scalable to PostgreSQL + cloud tomorrow.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5F5FA"/>
                </a:solidFill>
                <a:latin typeface="Arial"/>
              </a:defRPr>
            </a:pPr>
            <a:r>
              <a:t>TrustLens  —  Making Every Review Count  🛡️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